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パイプラインの動作確認用のサンプル。中身の主題ではなく、日本語が崩れずに pptx と PDF の両方で出るかだけを見ている。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3枚のうち1枚は表、1枚はカード、1枚はダーク地の見出しにして、レイアウトの種類ごとに崩れが出ないかを見た。フォントだけは代替が入っているので、実機確認は別に必要。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締め。できたことと、できていないこと（フォントの実機確認）を分けて置いた。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4688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日本語スライド生成パイプラインの動作確認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37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B4BE"/>
                </a:solidFill>
                <a:latin typeface="Yu Gothic"/>
                <a:ea typeface="Yu Gothic"/>
                <a:cs typeface="Yu Gothic"/>
              </a:rPr>
              <a:t>mybrain-starter Vault ／ テスト出力 ／ 2026-09-02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問い：この環境で、日本語の .pptx と、同じ内容の PDF を、文字化けなしで1回の実行で出せるか。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3492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B4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DB4BE"/>
                </a:solidFill>
                <a:latin typeface="Yu Gothic"/>
                <a:ea typeface="Yu Gothic"/>
                <a:cs typeface="Yu Gothic"/>
              </a:rPr>
              <a:t>実験レポート型 ／ 全3枚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84426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82228"/>
                </a:solidFill>
                <a:latin typeface="Yu Gothic"/>
                <a:ea typeface="Yu Gothic"/>
                <a:cs typeface="Yu Gothic"/>
              </a:rPr>
              <a:t>python-pptx と LibreOffice の組み合わせで、日本語の .pptx と PDF を同じ内容で出力できた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E727B"/>
                </a:solidFill>
                <a:latin typeface="Yu Gothic"/>
                <a:ea typeface="Yu Gothic"/>
                <a:cs typeface="Yu Gothic"/>
              </a:rPr>
              <a:t>検証：見出し・表・カード・記号を1枚ずつ含めて生成し、PDF に変換して突き合わせた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7055" y="5486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◯ 3枚とも出力できた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12848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6E4C"/>
                </a:solidFill>
                <a:latin typeface="Yu Gothic"/>
                <a:ea typeface="Yu Gothic"/>
                <a:cs typeface="Yu Gothic"/>
              </a:rPr>
              <a:t>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23744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727B"/>
                </a:solidFill>
                <a:latin typeface="Yu Gothic"/>
                <a:ea typeface="Yu Gothic"/>
                <a:cs typeface="Yu Gothic"/>
              </a:rPr>
              <a:t>python-pptx 1.0.2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83464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82228"/>
                </a:solidFill>
                <a:latin typeface="Yu Gothic"/>
                <a:ea typeface="Yu Gothic"/>
                <a:cs typeface="Yu Gothic"/>
              </a:rPr>
              <a:t>見出し・表・カード・バッジを
含む3枚を .pptx として出力。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011680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212848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6E4C"/>
                </a:solidFill>
                <a:latin typeface="Yu Gothic"/>
                <a:ea typeface="Yu Gothic"/>
                <a:cs typeface="Yu Gothic"/>
              </a:rPr>
              <a:t>変換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23744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727B"/>
                </a:solidFill>
                <a:latin typeface="Yu Gothic"/>
                <a:ea typeface="Yu Gothic"/>
                <a:cs typeface="Yu Gothic"/>
              </a:rPr>
              <a:t>LibreOffice 24.2.7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83464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82228"/>
                </a:solidFill>
                <a:latin typeface="Yu Gothic"/>
                <a:ea typeface="Yu Gothic"/>
                <a:cs typeface="Yu Gothic"/>
              </a:rPr>
              <a:t>同じファイルから3ページの
PDF を生成。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2011680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2212848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6E4C"/>
                </a:solidFill>
                <a:latin typeface="Yu Gothic"/>
                <a:ea typeface="Yu Gothic"/>
                <a:cs typeface="Yu Gothic"/>
              </a:rPr>
              <a:t>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523744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727B"/>
                </a:solidFill>
                <a:latin typeface="Yu Gothic"/>
                <a:ea typeface="Yu Gothic"/>
                <a:cs typeface="Yu Gothic"/>
              </a:rPr>
              <a:t>Noto Sans CJK JP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83464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82228"/>
                </a:solidFill>
                <a:latin typeface="Yu Gothic"/>
                <a:ea typeface="Yu Gothic"/>
                <a:cs typeface="Yu Gothic"/>
              </a:rPr>
              <a:t>日本語が豆腐（□）にも
文字化けにもならなかった。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3657600"/>
          <a:ext cx="10820095" cy="2148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6035040"/>
                <a:gridCol w="2041855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検証項目</a:t>
                      </a:r>
                    </a:p>
                  </a:txBody>
                  <a:tcPr marL="109728" marR="91440" marT="45720" marB="45720" anchor="ctr">
                    <a:solidFill>
                      <a:srgbClr val="E3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確認できたこと</a:t>
                      </a:r>
                    </a:p>
                  </a:txBody>
                  <a:tcPr marL="109728" marR="91440" marT="45720" marB="45720" anchor="ctr">
                    <a:solidFill>
                      <a:srgbClr val="E3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</a:t>
                      </a:r>
                    </a:p>
                  </a:txBody>
                  <a:tcPr marL="109728" marR="91440" marT="45720" marB="45720" anchor="ctr">
                    <a:solidFill>
                      <a:srgbClr val="E3EAE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日本語のスライド生成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見出し・表・カードが3枚とも崩れずに出た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6E4C"/>
                          </a:solidFill>
                          <a:latin typeface="Yu Gothic"/>
                          <a:ea typeface="Yu Gothic"/>
                          <a:cs typeface="Yu Gothic"/>
                        </a:rPr>
                        <a:t>◯</a:t>
                      </a:r>
                    </a:p>
                  </a:txBody>
                  <a:tcPr marL="109728" marR="91440" marT="45720" marB="45720" anchor="ctr">
                    <a:solidFill>
                      <a:srgbClr val="E4F1E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PDF への変換</a:t>
                      </a:r>
                    </a:p>
                  </a:txBody>
                  <a:tcPr marL="109728" marR="91440" marT="45720" marB="45720" anchor="ctr">
                    <a:solidFill>
                      <a:srgbClr val="F0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.pptx と同じ3ページ・同じ本文が取り出せた</a:t>
                      </a:r>
                    </a:p>
                  </a:txBody>
                  <a:tcPr marL="109728" marR="91440" marT="45720" marB="45720" anchor="ctr">
                    <a:solidFill>
                      <a:srgbClr val="F0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6E4C"/>
                          </a:solidFill>
                          <a:latin typeface="Yu Gothic"/>
                          <a:ea typeface="Yu Gothic"/>
                          <a:cs typeface="Yu Gothic"/>
                        </a:rPr>
                        <a:t>◯</a:t>
                      </a:r>
                    </a:p>
                  </a:txBody>
                  <a:tcPr marL="109728" marR="91440" marT="45720" marB="45720" anchor="ctr">
                    <a:solidFill>
                      <a:srgbClr val="E4F1E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記号の表示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◯ ※ → ─ が絵文字に化けずに出た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6E4C"/>
                          </a:solidFill>
                          <a:latin typeface="Yu Gothic"/>
                          <a:ea typeface="Yu Gothic"/>
                          <a:cs typeface="Yu Gothic"/>
                        </a:rPr>
                        <a:t>◯</a:t>
                      </a:r>
                    </a:p>
                  </a:txBody>
                  <a:tcPr marL="109728" marR="91440" marT="45720" marB="45720" anchor="ctr">
                    <a:solidFill>
                      <a:srgbClr val="E4F1E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フォントの見え方</a:t>
                      </a:r>
                    </a:p>
                  </a:txBody>
                  <a:tcPr marL="109728" marR="91440" marT="45720" marB="45720" anchor="ctr">
                    <a:solidFill>
                      <a:srgbClr val="F0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2228"/>
                          </a:solidFill>
                          <a:latin typeface="Yu Gothic"/>
                          <a:ea typeface="Yu Gothic"/>
                          <a:cs typeface="Yu Gothic"/>
                        </a:rPr>
                        <a:t>指定した Yu Gothic はこの環境に無く代替された</a:t>
                      </a:r>
                    </a:p>
                  </a:txBody>
                  <a:tcPr marL="109728" marR="91440" marT="45720" marB="45720" anchor="ctr">
                    <a:solidFill>
                      <a:srgbClr val="F0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A8710F"/>
                          </a:solidFill>
                          <a:latin typeface="Yu Gothic"/>
                          <a:ea typeface="Yu Gothic"/>
                          <a:cs typeface="Yu Gothic"/>
                        </a:rPr>
                        <a:t>要検証</a:t>
                      </a:r>
                    </a:p>
                  </a:txBody>
                  <a:tcPr marL="109728" marR="91440" marT="45720" marB="45720" anchor="ctr">
                    <a:solidFill>
                      <a:srgbClr val="FBF1D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6327648"/>
            <a:ext cx="9951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727B"/>
                </a:solidFill>
                <a:latin typeface="Yu Gothic"/>
                <a:ea typeface="Yu Gothic"/>
                <a:cs typeface="Yu Gothic"/>
              </a:rPr>
              <a:t>※ 判定は、この Linux 環境（LibreOffice 24.2.7 / Noto Sans CJK JP）での結果。Yu Gothic を持つ Windows・Mac の PowerPoint 実機での字面は未確認。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E727B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この環境なら、日本語の資料は .pptx と PDF の両方で納品できる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DB4BE"/>
                </a:solidFill>
                <a:latin typeface="Yu Gothic"/>
                <a:ea typeface="Yu Gothic"/>
                <a:cs typeface="Yu Gothic"/>
              </a:rPr>
              <a:t>残る不確実性はフォントの字面だけ。レイアウトと文字の出方は確認済み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3401568" cy="1828800"/>
          </a:xfrm>
          <a:prstGeom prst="roundRect">
            <a:avLst>
              <a:gd name="adj" fmla="val 4500"/>
            </a:avLst>
          </a:prstGeom>
          <a:solidFill>
            <a:srgbClr val="1B4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23744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FC79B"/>
                </a:solidFill>
                <a:latin typeface="Yu Gothic"/>
                <a:ea typeface="Yu Gothic"/>
                <a:cs typeface="Yu Gothic"/>
              </a:rPr>
              <a:t>できたこと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907792"/>
            <a:ext cx="28895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3枚の .pptx と、同じ内容の PDF を
1回の実行で生成できた。
見出し・表・カード・バッジ・
脚注・ページ番号のいずれも、
はみ出しや重なりは出ていない。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331720"/>
            <a:ext cx="3401568" cy="1828800"/>
          </a:xfrm>
          <a:prstGeom prst="roundRect">
            <a:avLst>
              <a:gd name="adj" fmla="val 4500"/>
            </a:avLst>
          </a:prstGeom>
          <a:solidFill>
            <a:srgbClr val="1B4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523744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3AE4A"/>
                </a:solidFill>
                <a:latin typeface="Yu Gothic"/>
                <a:ea typeface="Yu Gothic"/>
                <a:cs typeface="Yu Gothic"/>
              </a:rPr>
              <a:t>できていないこと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2907792"/>
            <a:ext cx="28895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指定フォントの Yu Gothic は
この環境に無く、PDF は
Noto Sans CJK JP で描かれている。
PowerPoint 実機での字面と改行位置は
確認できていない。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4424" y="2331720"/>
            <a:ext cx="3401568" cy="1828800"/>
          </a:xfrm>
          <a:prstGeom prst="roundRect">
            <a:avLst>
              <a:gd name="adj" fmla="val 4500"/>
            </a:avLst>
          </a:prstGeom>
          <a:solidFill>
            <a:srgbClr val="1B4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2523744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DB4BE"/>
                </a:solidFill>
                <a:latin typeface="Yu Gothic"/>
                <a:ea typeface="Yu Gothic"/>
                <a:cs typeface="Yu Gothic"/>
              </a:rPr>
              <a:t>次の一手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907792"/>
            <a:ext cx="28895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本番の資料は、この手順のまま
中身だけ差し替えればよい。
渡す前に一度、受け取る相手の
PowerPoint で開いて
改行位置だけ見てもらう。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548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5FC79B"/>
                </a:solidFill>
                <a:latin typeface="Yu Gothic"/>
                <a:ea typeface="Yu Gothic"/>
                <a:cs typeface="Yu Gothic"/>
              </a:rPr>
              <a:t>結論：日本語デッキの生成から PDF 化までは、この環境だけで完結する。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9951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DB4BE"/>
                </a:solidFill>
                <a:latin typeface="Yu Gothic"/>
                <a:ea typeface="Yu Gothic"/>
                <a:cs typeface="Yu Gothic"/>
              </a:rPr>
              <a:t>※ このデッキはパイプライン確認用のサンプル。内容そのものに主張は無い。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DB4B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