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パイプラインの動作確認用のサンプル。中身の主題ではなく、日本語が崩れずに pptx と PDF の両方で出るかだけを見ている。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3枚のうち1枚は表、1枚はカード、1枚はダーク地の見出しにして、レイアウトの種類ごとに崩れが出ないかを見た。フォントだけは代替が入っているので、実機確認は別に必要。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締め。できたことと、できていないこと（フォントの実機確認）を分けて置いた。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C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4688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日本語スライド生成パイプラインの動作確認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3375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DB4BE"/>
                </a:solidFill>
                <a:latin typeface="Yu Gothic"/>
                <a:ea typeface="Yu Gothic"/>
                <a:cs typeface="Yu Gothic"/>
              </a:rPr>
              <a:t>mybrain-starter Vault ／ テスト出力 ／ 2026-09-02（再ビルド）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023360"/>
            <a:ext cx="9692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問い：この環境で、日本語の .pptx と、同じ内容の PDF を、文字化けなしで1回の実行で出せるか。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349240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1B4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DB4BE"/>
                </a:solidFill>
                <a:latin typeface="Yu Gothic"/>
                <a:ea typeface="Yu Gothic"/>
                <a:cs typeface="Yu Gothic"/>
              </a:rPr>
              <a:t>実験レポート型 ／ 全3枚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844265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182228"/>
                </a:solidFill>
                <a:latin typeface="Yu Gothic"/>
                <a:ea typeface="Yu Gothic"/>
                <a:cs typeface="Yu Gothic"/>
              </a:rPr>
              <a:t>python-pptx と LibreOffice の組み合わせで、日本語の .pptx と PDF を同じ内容で出力できた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81328"/>
            <a:ext cx="1082009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E727B"/>
                </a:solidFill>
                <a:latin typeface="Yu Gothic"/>
                <a:ea typeface="Yu Gothic"/>
                <a:cs typeface="Yu Gothic"/>
              </a:rPr>
              <a:t>検証：見出し・表・カード・記号を1枚ずつ含めて生成し、PDF に変換して突き合わせた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57055" y="54864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146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◯ 3枚とも出力できた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3401568" cy="1371600"/>
          </a:xfrm>
          <a:prstGeom prst="roundRect">
            <a:avLst>
              <a:gd name="adj" fmla="val 4500"/>
            </a:avLst>
          </a:prstGeom>
          <a:solidFill>
            <a:srgbClr val="F0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212848"/>
            <a:ext cx="2889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6E4C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523744"/>
            <a:ext cx="2889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727B"/>
                </a:solidFill>
                <a:latin typeface="Yu Gothic"/>
                <a:ea typeface="Yu Gothic"/>
                <a:cs typeface="Yu Gothic"/>
              </a:rPr>
              <a:t>python-pptx 1.0.2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834640"/>
            <a:ext cx="28895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82228"/>
                </a:solidFill>
                <a:latin typeface="Yu Gothic"/>
                <a:ea typeface="Yu Gothic"/>
                <a:cs typeface="Yu Gothic"/>
              </a:rPr>
              <a:t>見出し・表・カード・バッジを
含む3枚を .pptx として出力。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2011680"/>
            <a:ext cx="3401568" cy="1371600"/>
          </a:xfrm>
          <a:prstGeom prst="roundRect">
            <a:avLst>
              <a:gd name="adj" fmla="val 4500"/>
            </a:avLst>
          </a:prstGeom>
          <a:solidFill>
            <a:srgbClr val="F0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81144" y="2212848"/>
            <a:ext cx="2889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6E4C"/>
                </a:solidFill>
                <a:latin typeface="Yu Gothic"/>
                <a:ea typeface="Yu Gothic"/>
                <a:cs typeface="Yu Gothic"/>
              </a:rPr>
              <a:t>変換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1144" y="2523744"/>
            <a:ext cx="2889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727B"/>
                </a:solidFill>
                <a:latin typeface="Yu Gothic"/>
                <a:ea typeface="Yu Gothic"/>
                <a:cs typeface="Yu Gothic"/>
              </a:rPr>
              <a:t>LibreOffice 24.2.7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834640"/>
            <a:ext cx="28895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82228"/>
                </a:solidFill>
                <a:latin typeface="Yu Gothic"/>
                <a:ea typeface="Yu Gothic"/>
                <a:cs typeface="Yu Gothic"/>
              </a:rPr>
              <a:t>同じファイルから3ページの
PDF を生成。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64424" y="2011680"/>
            <a:ext cx="3401568" cy="1371600"/>
          </a:xfrm>
          <a:prstGeom prst="roundRect">
            <a:avLst>
              <a:gd name="adj" fmla="val 4500"/>
            </a:avLst>
          </a:prstGeom>
          <a:solidFill>
            <a:srgbClr val="F0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0456" y="2212848"/>
            <a:ext cx="2889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6E4C"/>
                </a:solidFill>
                <a:latin typeface="Yu Gothic"/>
                <a:ea typeface="Yu Gothic"/>
                <a:cs typeface="Yu Gothic"/>
              </a:rPr>
              <a:t>表示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2523744"/>
            <a:ext cx="2889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727B"/>
                </a:solidFill>
                <a:latin typeface="Yu Gothic"/>
                <a:ea typeface="Yu Gothic"/>
                <a:cs typeface="Yu Gothic"/>
              </a:rPr>
              <a:t>Noto Sans CJK JP（要設定）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834640"/>
            <a:ext cx="28895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82228"/>
                </a:solidFill>
                <a:latin typeface="Yu Gothic"/>
                <a:ea typeface="Yu Gothic"/>
                <a:cs typeface="Yu Gothic"/>
              </a:rPr>
              <a:t>既定では簡体字の SC 面が
選ばれるため JP を優先させた。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85800" y="3657600"/>
          <a:ext cx="10820095" cy="2148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6035040"/>
                <a:gridCol w="2041855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82228"/>
                          </a:solidFill>
                          <a:latin typeface="Yu Gothic"/>
                          <a:ea typeface="Yu Gothic"/>
                          <a:cs typeface="Yu Gothic"/>
                        </a:rPr>
                        <a:t>検証項目</a:t>
                      </a:r>
                    </a:p>
                  </a:txBody>
                  <a:tcPr marL="109728" marR="91440" marT="45720" marB="45720" anchor="ctr">
                    <a:solidFill>
                      <a:srgbClr val="E3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82228"/>
                          </a:solidFill>
                          <a:latin typeface="Yu Gothic"/>
                          <a:ea typeface="Yu Gothic"/>
                          <a:cs typeface="Yu Gothic"/>
                        </a:rPr>
                        <a:t>確認できたこと</a:t>
                      </a:r>
                    </a:p>
                  </a:txBody>
                  <a:tcPr marL="109728" marR="91440" marT="45720" marB="45720" anchor="ctr">
                    <a:solidFill>
                      <a:srgbClr val="E3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82228"/>
                          </a:solidFill>
                          <a:latin typeface="Yu Gothic"/>
                          <a:ea typeface="Yu Gothic"/>
                          <a:cs typeface="Yu Gothic"/>
                        </a:rPr>
                        <a:t>判定</a:t>
                      </a:r>
                    </a:p>
                  </a:txBody>
                  <a:tcPr marL="109728" marR="91440" marT="45720" marB="45720" anchor="ctr">
                    <a:solidFill>
                      <a:srgbClr val="E3EAED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82228"/>
                          </a:solidFill>
                          <a:latin typeface="Yu Gothic"/>
                          <a:ea typeface="Yu Gothic"/>
                          <a:cs typeface="Yu Gothic"/>
                        </a:rPr>
                        <a:t>日本語のスライド生成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82228"/>
                          </a:solidFill>
                          <a:latin typeface="Yu Gothic"/>
                          <a:ea typeface="Yu Gothic"/>
                          <a:cs typeface="Yu Gothic"/>
                        </a:rPr>
                        <a:t>見出し・表・カードが3枚とも崩れずに出た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46E4C"/>
                          </a:solidFill>
                          <a:latin typeface="Yu Gothic"/>
                          <a:ea typeface="Yu Gothic"/>
                          <a:cs typeface="Yu Gothic"/>
                        </a:rPr>
                        <a:t>◯</a:t>
                      </a:r>
                    </a:p>
                  </a:txBody>
                  <a:tcPr marL="109728" marR="91440" marT="45720" marB="45720" anchor="ctr">
                    <a:solidFill>
                      <a:srgbClr val="E4F1EB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82228"/>
                          </a:solidFill>
                          <a:latin typeface="Yu Gothic"/>
                          <a:ea typeface="Yu Gothic"/>
                          <a:cs typeface="Yu Gothic"/>
                        </a:rPr>
                        <a:t>PDF への変換</a:t>
                      </a:r>
                    </a:p>
                  </a:txBody>
                  <a:tcPr marL="109728" marR="91440" marT="45720" marB="45720" anchor="ctr">
                    <a:solidFill>
                      <a:srgbClr val="F0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82228"/>
                          </a:solidFill>
                          <a:latin typeface="Yu Gothic"/>
                          <a:ea typeface="Yu Gothic"/>
                          <a:cs typeface="Yu Gothic"/>
                        </a:rPr>
                        <a:t>.pptx と同じ3ページ・同じ本文が取り出せた</a:t>
                      </a:r>
                    </a:p>
                  </a:txBody>
                  <a:tcPr marL="109728" marR="91440" marT="45720" marB="45720" anchor="ctr">
                    <a:solidFill>
                      <a:srgbClr val="F0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46E4C"/>
                          </a:solidFill>
                          <a:latin typeface="Yu Gothic"/>
                          <a:ea typeface="Yu Gothic"/>
                          <a:cs typeface="Yu Gothic"/>
                        </a:rPr>
                        <a:t>◯</a:t>
                      </a:r>
                    </a:p>
                  </a:txBody>
                  <a:tcPr marL="109728" marR="91440" marT="45720" marB="45720" anchor="ctr">
                    <a:solidFill>
                      <a:srgbClr val="E4F1EB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82228"/>
                          </a:solidFill>
                          <a:latin typeface="Yu Gothic"/>
                          <a:ea typeface="Yu Gothic"/>
                          <a:cs typeface="Yu Gothic"/>
                        </a:rPr>
                        <a:t>記号の表示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82228"/>
                          </a:solidFill>
                          <a:latin typeface="Yu Gothic"/>
                          <a:ea typeface="Yu Gothic"/>
                          <a:cs typeface="Yu Gothic"/>
                        </a:rPr>
                        <a:t>◯ ※ → ─ が絵文字に化けずに出た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46E4C"/>
                          </a:solidFill>
                          <a:latin typeface="Yu Gothic"/>
                          <a:ea typeface="Yu Gothic"/>
                          <a:cs typeface="Yu Gothic"/>
                        </a:rPr>
                        <a:t>◯</a:t>
                      </a:r>
                    </a:p>
                  </a:txBody>
                  <a:tcPr marL="109728" marR="91440" marT="45720" marB="45720" anchor="ctr">
                    <a:solidFill>
                      <a:srgbClr val="E4F1EB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82228"/>
                          </a:solidFill>
                          <a:latin typeface="Yu Gothic"/>
                          <a:ea typeface="Yu Gothic"/>
                          <a:cs typeface="Yu Gothic"/>
                        </a:rPr>
                        <a:t>フォントの字形</a:t>
                      </a:r>
                    </a:p>
                  </a:txBody>
                  <a:tcPr marL="109728" marR="91440" marT="45720" marB="45720" anchor="ctr">
                    <a:solidFill>
                      <a:srgbClr val="F0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82228"/>
                          </a:solidFill>
                          <a:latin typeface="Yu Gothic"/>
                          <a:ea typeface="Yu Gothic"/>
                          <a:cs typeface="Yu Gothic"/>
                        </a:rPr>
                        <a:t>既定では中国語字形の SC 面が選ばれていた（設定で修正）</a:t>
                      </a:r>
                    </a:p>
                  </a:txBody>
                  <a:tcPr marL="109728" marR="91440" marT="45720" marB="45720" anchor="ctr">
                    <a:solidFill>
                      <a:srgbClr val="F0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A8710F"/>
                          </a:solidFill>
                          <a:latin typeface="Yu Gothic"/>
                          <a:ea typeface="Yu Gothic"/>
                          <a:cs typeface="Yu Gothic"/>
                        </a:rPr>
                        <a:t>要検証</a:t>
                      </a:r>
                    </a:p>
                  </a:txBody>
                  <a:tcPr marL="109728" marR="91440" marT="45720" marB="45720" anchor="ctr">
                    <a:solidFill>
                      <a:srgbClr val="FBF1D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685800" y="6327648"/>
            <a:ext cx="9951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E727B"/>
                </a:solidFill>
                <a:latin typeface="Yu Gothic"/>
                <a:ea typeface="Yu Gothic"/>
                <a:cs typeface="Yu Gothic"/>
              </a:rPr>
              <a:t>※ PDF の /BaseFont を実測した値は NotoSansCJKjp-Regular ／ -Bold。fontconfig を設定する前は NotoSansCJKsc（簡体字）が埋め込まれていた。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65815" y="632764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E727B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C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この環境なら、日本語の資料は .pptx と PDF の両方で納品できる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81328"/>
            <a:ext cx="1082009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DB4BE"/>
                </a:solidFill>
                <a:latin typeface="Yu Gothic"/>
                <a:ea typeface="Yu Gothic"/>
                <a:cs typeface="Yu Gothic"/>
              </a:rPr>
              <a:t>残る不確実性はフォントの字面だけ。レイアウトと文字の出方は確認済み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31720"/>
            <a:ext cx="3401568" cy="1828800"/>
          </a:xfrm>
          <a:prstGeom prst="roundRect">
            <a:avLst>
              <a:gd name="adj" fmla="val 4500"/>
            </a:avLst>
          </a:prstGeom>
          <a:solidFill>
            <a:srgbClr val="1B4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" y="2523744"/>
            <a:ext cx="2889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FC79B"/>
                </a:solidFill>
                <a:latin typeface="Yu Gothic"/>
                <a:ea typeface="Yu Gothic"/>
                <a:cs typeface="Yu Gothic"/>
              </a:rPr>
              <a:t>できたこと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2907792"/>
            <a:ext cx="288950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3枚の .pptx と、同じ内容の PDF を
1回の実行で生成できた。
見出し・表・カード・バッジ・
脚注・ページ番号のいずれも、
はみ出しや重なりは出ていない。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5112" y="2331720"/>
            <a:ext cx="3401568" cy="1828800"/>
          </a:xfrm>
          <a:prstGeom prst="roundRect">
            <a:avLst>
              <a:gd name="adj" fmla="val 4500"/>
            </a:avLst>
          </a:prstGeom>
          <a:solidFill>
            <a:srgbClr val="1B4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1144" y="2523744"/>
            <a:ext cx="2889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3AE4A"/>
                </a:solidFill>
                <a:latin typeface="Yu Gothic"/>
                <a:ea typeface="Yu Gothic"/>
                <a:cs typeface="Yu Gothic"/>
              </a:rPr>
              <a:t>できていないこと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1144" y="2907792"/>
            <a:ext cx="288950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指定フォントの Yu Gothic は
この環境に無い。fontconfig を
設定するまで、PDF には簡体字の
NotoSansCJKsc が埋め込まれていた。
PowerPoint 実機での字面は未確認。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4424" y="2331720"/>
            <a:ext cx="3401568" cy="1828800"/>
          </a:xfrm>
          <a:prstGeom prst="roundRect">
            <a:avLst>
              <a:gd name="adj" fmla="val 4500"/>
            </a:avLst>
          </a:prstGeom>
          <a:solidFill>
            <a:srgbClr val="1B4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456" y="2523744"/>
            <a:ext cx="2889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DB4BE"/>
                </a:solidFill>
                <a:latin typeface="Yu Gothic"/>
                <a:ea typeface="Yu Gothic"/>
                <a:cs typeface="Yu Gothic"/>
              </a:rPr>
              <a:t>次の一手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6" y="2907792"/>
            <a:ext cx="288950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本番の資料は、この手順のまま
中身だけ差し替えればよい。
渡す前に一度、受け取る相手の
PowerPoint で開いて
改行位置だけ見てもらう。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754880"/>
            <a:ext cx="108200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5FC79B"/>
                </a:solidFill>
                <a:latin typeface="Yu Gothic"/>
                <a:ea typeface="Yu Gothic"/>
                <a:cs typeface="Yu Gothic"/>
              </a:rPr>
              <a:t>結論：日本語デッキの生成から PDF 化までは、この環境だけで完結する。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806440"/>
            <a:ext cx="9951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DB4BE"/>
                </a:solidFill>
                <a:latin typeface="Yu Gothic"/>
                <a:ea typeface="Yu Gothic"/>
                <a:cs typeface="Yu Gothic"/>
              </a:rPr>
              <a:t>※ このデッキはパイプライン確認用のサンプル。内容そのものに主張は無い。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DB4B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